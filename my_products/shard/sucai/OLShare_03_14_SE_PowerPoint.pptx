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属性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OLSupport | 简体中文 Chinese Simplifi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0">
                <a:latin typeface="SF Pro Display Bold"/>
                <a:ea typeface="SF Pro Display Bold"/>
                <a:cs typeface="SF Pro Display Bold"/>
                <a:sym typeface="SF Pro Display Bold"/>
              </a:defRPr>
            </a:lvl1pPr>
          </a:lstStyle>
          <a:p>
            <a:pPr/>
            <a:r>
              <a:t>OLSupport | 简体中文 Chinese Simplified</a:t>
            </a:r>
          </a:p>
        </p:txBody>
      </p:sp>
      <p:sp>
        <p:nvSpPr>
          <p:cNvPr id="172" name="碎片喷发时间推算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SF Pro Display Bold"/>
                <a:ea typeface="SF Pro Display Bold"/>
                <a:cs typeface="SF Pro Display Bold"/>
                <a:sym typeface="SF Pro Display Bold"/>
              </a:defRPr>
            </a:lvl1pPr>
          </a:lstStyle>
          <a:p>
            <a:pPr/>
            <a:r>
              <a:t>碎片喷发时间推算</a:t>
            </a:r>
          </a:p>
        </p:txBody>
      </p:sp>
      <p:sp>
        <p:nvSpPr>
          <p:cNvPr id="173" name="*仅网易服适用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SF Pro Display Bold"/>
                <a:ea typeface="SF Pro Display Bold"/>
                <a:cs typeface="SF Pro Display Bold"/>
                <a:sym typeface="SF Pro Display Bold"/>
              </a:defRPr>
            </a:lvl1pPr>
          </a:lstStyle>
          <a:p>
            <a:pPr/>
            <a:r>
              <a:t>*仅网易服适用</a:t>
            </a:r>
          </a:p>
        </p:txBody>
      </p:sp>
    </p:spTree>
  </p:cSld>
  <p:clrMapOvr>
    <a:masterClrMapping/>
  </p:clrMapOvr>
  <p:transition xmlns:p14="http://schemas.microsoft.com/office/powerpoint/2010/main" spd="med" advClick="0" advTm="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碎片爆发是自    破晓季以来引入的游戏玩法。在某些日期，碎片都会定期从伊甸山上爆发，每天多次落在王国的一个预定位置。这个确切的位置遵循着时间表。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1804370">
              <a:defRPr spc="-148" sz="7400"/>
            </a:lvl1pPr>
          </a:lstStyle>
          <a:p>
            <a:pPr/>
            <a:r>
              <a:t>碎片爆发是自    破晓季以来引入的游戏玩法。在某些日期，碎片都会定期从伊甸山上爆发，每天多次落在王国的一个预定位置。这个确切的位置遵循着时间表。</a:t>
            </a:r>
          </a:p>
        </p:txBody>
      </p:sp>
      <p:pic>
        <p:nvPicPr>
          <p:cNvPr id="176" name="14_SOShattering.png" descr="14_SOShatter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57335" y="4743384"/>
            <a:ext cx="1176220" cy="11762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0" advTm="15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6" grpId="2"/>
      <p:bldP build="whole" bldLvl="1" animBg="1" rev="0" advAuto="0" spid="17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哪些日期会出现碎片喷发？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哪些日期会出现碎片喷发？</a:t>
            </a:r>
          </a:p>
        </p:txBody>
      </p:sp>
    </p:spTree>
  </p:cSld>
  <p:clrMapOvr>
    <a:masterClrMapping/>
  </p:clrMapOvr>
  <p:transition xmlns:p14="http://schemas.microsoft.com/office/powerpoint/2010/main" spd="med" advClick="0" advTm="3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碎片将在每月15日之前的星期二、星期六和星期日喷发，同时在15日之后的星期四、星期五和星期日喷发（若是15日本身，则按照15日之前的规律计算）。…"/>
          <p:cNvSpPr txBox="1"/>
          <p:nvPr>
            <p:ph type="title"/>
          </p:nvPr>
        </p:nvSpPr>
        <p:spPr>
          <a:xfrm>
            <a:off x="1206498" y="2947192"/>
            <a:ext cx="21971004" cy="7821616"/>
          </a:xfrm>
          <a:prstGeom prst="rect">
            <a:avLst/>
          </a:prstGeom>
        </p:spPr>
        <p:txBody>
          <a:bodyPr/>
          <a:lstStyle/>
          <a:p>
            <a:pPr algn="ctr" defTabSz="2316421">
              <a:defRPr spc="-152" sz="7600"/>
            </a:pPr>
            <a:r>
              <a:t>碎片将在每月15日之前的</a:t>
            </a:r>
            <a:r>
              <a:rPr>
                <a:solidFill>
                  <a:srgbClr val="AA7942"/>
                </a:solidFill>
              </a:rPr>
              <a:t>星期二</a:t>
            </a:r>
            <a:r>
              <a:t>、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星期六</a:t>
            </a:r>
            <a:r>
              <a:t>和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星期日</a:t>
            </a:r>
            <a:r>
              <a:t>喷发，同时在15日之后的</a:t>
            </a:r>
            <a:r>
              <a:rPr>
                <a:solidFill>
                  <a:srgbClr val="AA7942"/>
                </a:solidFill>
              </a:rPr>
              <a:t>星期四</a:t>
            </a:r>
            <a:r>
              <a:t>、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星期五</a:t>
            </a:r>
            <a:r>
              <a:t>和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星期日</a:t>
            </a:r>
            <a:r>
              <a:t>喷发（若是15日本身，则按照15日之前的规律计算）。</a:t>
            </a:r>
          </a:p>
          <a:p>
            <a:pPr algn="ctr" defTabSz="2316421">
              <a:defRPr spc="-152" sz="7600"/>
            </a:pPr>
          </a:p>
          <a:p>
            <a:pPr algn="ctr" defTabSz="2316421">
              <a:defRPr spc="-152" sz="7600"/>
            </a:pPr>
            <a:r>
              <a:t>碎片在</a:t>
            </a:r>
            <a:r>
              <a:rPr>
                <a:solidFill>
                  <a:srgbClr val="AA7942"/>
                </a:solidFill>
              </a:rPr>
              <a:t>星期二</a:t>
            </a:r>
            <a:r>
              <a:t>/</a:t>
            </a:r>
            <a:r>
              <a:rPr>
                <a:solidFill>
                  <a:srgbClr val="AA7942"/>
                </a:solidFill>
              </a:rPr>
              <a:t>星期三</a:t>
            </a:r>
            <a:r>
              <a:t>普通喷发,获得普通烛光</a:t>
            </a:r>
          </a:p>
          <a:p>
            <a:pPr algn="ctr" defTabSz="2316421">
              <a:defRPr spc="-152" sz="7600"/>
            </a:pPr>
            <a:r>
              <a:t>碎片在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星期五</a:t>
            </a:r>
            <a:r>
              <a:t>/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星期六</a:t>
            </a:r>
            <a:r>
              <a:t>/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星期日</a:t>
            </a:r>
            <a:r>
              <a:t>猛烈喷发,获得升华烛光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5000" p14:dur="2000">
        <p:dissolv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表格 1"/>
          <p:cNvGraphicFramePr/>
          <p:nvPr/>
        </p:nvGraphicFramePr>
        <p:xfrm>
          <a:off x="1212850" y="2736344"/>
          <a:ext cx="21971000" cy="825601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{2708684C-4D16-4618-839F-0558EEFCDFE6}</a:tableStyleId>
              </a:tblPr>
              <a:tblGrid>
                <a:gridCol w="3136900"/>
                <a:gridCol w="3136900"/>
                <a:gridCol w="3136900"/>
                <a:gridCol w="3136900"/>
                <a:gridCol w="3136900"/>
                <a:gridCol w="3136900"/>
                <a:gridCol w="3136900"/>
              </a:tblGrid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星期一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星期二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星期四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星期五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星期六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星期日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12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13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18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25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27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28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29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这些喷发会降临在什么地方？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这些喷发会降临在什么地方？</a:t>
            </a:r>
          </a:p>
        </p:txBody>
      </p:sp>
    </p:spTree>
  </p:cSld>
  <p:clrMapOvr>
    <a:masterClrMapping/>
  </p:clrMapOvr>
  <p:transition xmlns:p14="http://schemas.microsoft.com/office/powerpoint/2010/main" spd="med" advClick="0" advTm="3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每个月的1日都降临在暮土，接着按云野、雨林、霞谷、暮土、禁阁的顺序填充之后的每一日。（包括没有碎片喷发的日子）"/>
          <p:cNvSpPr txBox="1"/>
          <p:nvPr>
            <p:ph type="title"/>
          </p:nvPr>
        </p:nvSpPr>
        <p:spPr>
          <a:xfrm>
            <a:off x="1206498" y="4371808"/>
            <a:ext cx="21971004" cy="3978493"/>
          </a:xfrm>
          <a:prstGeom prst="rect">
            <a:avLst/>
          </a:prstGeom>
        </p:spPr>
        <p:txBody>
          <a:bodyPr/>
          <a:lstStyle>
            <a:lvl1pPr algn="ctr">
              <a:defRPr spc="-159" sz="8000"/>
            </a:lvl1pPr>
          </a:lstStyle>
          <a:p>
            <a:pPr/>
            <a:r>
              <a:t>每个月的1日都降临在暮土，接着按云野、雨林、霞谷、暮土、禁阁的顺序填充之后的每一日。（包括没有碎片喷发的日子）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5000" p14:dur="2000">
        <p:dissolv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表格 1"/>
          <p:cNvGraphicFramePr/>
          <p:nvPr/>
        </p:nvGraphicFramePr>
        <p:xfrm>
          <a:off x="1212850" y="2736344"/>
          <a:ext cx="21971000" cy="825601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{2708684C-4D16-4618-839F-0558EEFCDFE6}</a:tableStyleId>
              </a:tblPr>
              <a:tblGrid>
                <a:gridCol w="3136900"/>
                <a:gridCol w="3136900"/>
                <a:gridCol w="3136900"/>
                <a:gridCol w="3136900"/>
                <a:gridCol w="3136900"/>
                <a:gridCol w="3136900"/>
                <a:gridCol w="3136900"/>
              </a:tblGrid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星期一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星期二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星期四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星期五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星期六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星期日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1暮土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2禁阁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3云野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4雨林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5霞谷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6暮土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7禁阁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8云野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9雨林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10霞谷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11暮土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12禁阁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13云野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14雨林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15霞谷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16暮土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17禁阁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18云野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19雨林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20霞谷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21暮土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22禁阁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23云野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24雨林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25霞谷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26暮土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27禁阁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28云野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29雨林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30霞谷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这些碎片会喷发在哪些小地图？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这些碎片会喷发在哪些小地图？</a:t>
            </a:r>
          </a:p>
        </p:txBody>
      </p:sp>
    </p:spTree>
  </p:cSld>
  <p:clrMapOvr>
    <a:masterClrMapping/>
  </p:clrMapOvr>
  <p:transition xmlns:p14="http://schemas.microsoft.com/office/powerpoint/2010/main" spd="med" advClick="0" advTm="3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请按图表填充…"/>
          <p:cNvSpPr txBox="1"/>
          <p:nvPr>
            <p:ph type="title"/>
          </p:nvPr>
        </p:nvSpPr>
        <p:spPr>
          <a:xfrm>
            <a:off x="1206498" y="4371808"/>
            <a:ext cx="21971004" cy="3978493"/>
          </a:xfrm>
          <a:prstGeom prst="rect">
            <a:avLst/>
          </a:prstGeom>
        </p:spPr>
        <p:txBody>
          <a:bodyPr/>
          <a:lstStyle>
            <a:lvl1pPr algn="ctr">
              <a:defRPr spc="-159" sz="8000"/>
            </a:lvl1pPr>
          </a:lstStyle>
          <a:p>
            <a:pPr/>
            <a:r>
              <a:t>请按图表填充…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3000" p14:dur="2000">
        <p:dissolv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表格 1"/>
          <p:cNvGraphicFramePr/>
          <p:nvPr/>
        </p:nvGraphicFramePr>
        <p:xfrm>
          <a:off x="5770513" y="3083562"/>
          <a:ext cx="21971001" cy="825601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{C7B018BB-80A7-4F77-B60F-C8B233D01FF8}</a:tableStyleId>
              </a:tblPr>
              <a:tblGrid>
                <a:gridCol w="927100"/>
                <a:gridCol w="2472643"/>
                <a:gridCol w="2195325"/>
                <a:gridCol w="2424175"/>
                <a:gridCol w="2480122"/>
                <a:gridCol w="2634311"/>
              </a:tblGrid>
              <a:tr h="6794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latin typeface="问藏书房"/>
                          <a:ea typeface="问藏书房"/>
                          <a:cs typeface="问藏书房"/>
                          <a:sym typeface="问藏书房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星期二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星期五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星期六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星期日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云野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蝴蝶平原
200烛光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云中仙乡
200烛光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浮岛
2.5升华蜡烛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幽光山洞
2升华蜡烛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圣岛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miter lim="400000"/>
                    </a:lnB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雨林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荧光森林
200烛光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密林遗迹
200烛光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大树屋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神殿后花园
2.5升华蜡烛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秘密花园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霞谷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滑冰场
200烛光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滑冰场
200烛光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圆梦村
2.5升华蜡烛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圆梦村
2.5升华蜡烛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雪隐峰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暮土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边陲荒漠
200烛光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远古战场
200烛光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黑水港湾
2.5升华蜡烛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巨兽荒原
2升华蜡烛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失落方舟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禁阁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星漠
200烛光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星漠
200烛光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水母港湾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水母港湾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水母港湾
3.5升华蜡烛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我们将会得到…"/>
          <p:cNvSpPr txBox="1"/>
          <p:nvPr>
            <p:ph type="title"/>
          </p:nvPr>
        </p:nvSpPr>
        <p:spPr>
          <a:xfrm>
            <a:off x="1206498" y="4371808"/>
            <a:ext cx="21971004" cy="3978493"/>
          </a:xfrm>
          <a:prstGeom prst="rect">
            <a:avLst/>
          </a:prstGeom>
        </p:spPr>
        <p:txBody>
          <a:bodyPr/>
          <a:lstStyle>
            <a:lvl1pPr algn="ctr">
              <a:defRPr spc="-159" sz="8000"/>
            </a:lvl1pPr>
          </a:lstStyle>
          <a:p>
            <a:pPr/>
            <a:r>
              <a:t>我们将会得到…</a:t>
            </a:r>
          </a:p>
        </p:txBody>
      </p:sp>
    </p:spTree>
  </p:cSld>
  <p:clrMapOvr>
    <a:masterClrMapping/>
  </p:clrMapOvr>
  <p:transition xmlns:p14="http://schemas.microsoft.com/office/powerpoint/2010/main" spd="med" advClick="0" advTm="3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表格 1"/>
          <p:cNvGraphicFramePr/>
          <p:nvPr/>
        </p:nvGraphicFramePr>
        <p:xfrm>
          <a:off x="1212850" y="2736344"/>
          <a:ext cx="21971000" cy="825601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{2708684C-4D16-4618-839F-0558EEFCDFE6}</a:tableStyleId>
              </a:tblPr>
              <a:tblGrid>
                <a:gridCol w="3136900"/>
                <a:gridCol w="3136900"/>
                <a:gridCol w="3136900"/>
                <a:gridCol w="3136900"/>
                <a:gridCol w="3136900"/>
                <a:gridCol w="3136900"/>
                <a:gridCol w="3136900"/>
              </a:tblGrid>
              <a:tr h="137388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星期一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星期二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星期四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星期五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星期六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星期日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1暮土
边陲荒漠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5霞谷
圆梦村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6暮土
失落方舟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8云野
蝴蝶平原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12禁阁
水母港湾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13云野
圣岛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15霞谷
滑冰场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16暮土
远古战场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18云野
浮岛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20霞谷
雪隐峰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23云野
云中仙乡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25霞谷
圆梦村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27禁阁
水母港湾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solidFill>
                      <a:schemeClr val="accent5">
                        <a:hueOff val="-152895"/>
                        <a:lumOff val="12368"/>
                      </a:schemeClr>
                    </a:solidFill>
                  </a:tcPr>
                </a:tc>
              </a:tr>
              <a:tr h="137388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30霞谷
滑冰场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  <a:solidFill>
                      <a:srgbClr val="AA79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具体在什么时间会出现？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具体在什么时间会出现？</a:t>
            </a:r>
          </a:p>
        </p:txBody>
      </p:sp>
    </p:spTree>
  </p:cSld>
  <p:clrMapOvr>
    <a:masterClrMapping/>
  </p:clrMapOvr>
  <p:transition xmlns:p14="http://schemas.microsoft.com/office/powerpoint/2010/main" spd="med" advClick="0" advTm="3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32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这些时间是固定的，请参考…"/>
          <p:cNvSpPr txBox="1"/>
          <p:nvPr>
            <p:ph type="title"/>
          </p:nvPr>
        </p:nvSpPr>
        <p:spPr>
          <a:xfrm>
            <a:off x="1206498" y="4371808"/>
            <a:ext cx="21971004" cy="3978493"/>
          </a:xfrm>
          <a:prstGeom prst="rect">
            <a:avLst/>
          </a:prstGeom>
        </p:spPr>
        <p:txBody>
          <a:bodyPr/>
          <a:lstStyle>
            <a:lvl1pPr algn="ctr">
              <a:defRPr spc="-159" sz="8000"/>
            </a:lvl1pPr>
          </a:lstStyle>
          <a:p>
            <a:pPr/>
            <a:r>
              <a:t>这些时间是固定的，请参考…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3000" p14:dur="2000">
        <p:dissolv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表格 1"/>
          <p:cNvGraphicFramePr/>
          <p:nvPr/>
        </p:nvGraphicFramePr>
        <p:xfrm>
          <a:off x="5161471" y="5547388"/>
          <a:ext cx="14073758" cy="263392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{C7B018BB-80A7-4F77-B60F-C8B233D01FF8}</a:tableStyleId>
              </a:tblPr>
              <a:tblGrid>
                <a:gridCol w="2920604"/>
                <a:gridCol w="2920604"/>
                <a:gridCol w="2770058"/>
                <a:gridCol w="2785113"/>
                <a:gridCol w="2664675"/>
              </a:tblGrid>
              <a:tr h="6450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星期二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星期三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星期五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星期六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>
                          <a:latin typeface="问藏书房"/>
                          <a:ea typeface="问藏书房"/>
                          <a:cs typeface="问藏书房"/>
                          <a:sym typeface="问藏书房"/>
                        </a:rPr>
                        <a:t>星期日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976209"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SF Pro Rounded Regular"/>
                          <a:ea typeface="SF Pro Rounded Regular"/>
                          <a:cs typeface="SF Pro Rounded Regular"/>
                          <a:sym typeface="SF Pro Rounded Regular"/>
                        </a:rPr>
                        <a:t>9:08～10:00
14:08～15:00
19:08～20:00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SF Pro Rounded Regular"/>
                          <a:ea typeface="SF Pro Rounded Regular"/>
                          <a:cs typeface="SF Pro Rounded Regular"/>
                          <a:sym typeface="SF Pro Rounded Regular"/>
                        </a:rPr>
                        <a:t>9:08～10:00
15:08～16:00
19:08～20:00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SF Pro Rounded Regular"/>
                          <a:ea typeface="SF Pro Rounded Regular"/>
                          <a:cs typeface="SF Pro Rounded Regular"/>
                          <a:sym typeface="SF Pro Rounded Regular"/>
                        </a:rPr>
                        <a:t>11:08~12:00
17:08~18:00
23:08~24:00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SF Pro Rounded Regular"/>
                          <a:ea typeface="SF Pro Rounded Regular"/>
                          <a:cs typeface="SF Pro Rounded Regular"/>
                          <a:sym typeface="SF Pro Rounded Regular"/>
                        </a:rPr>
                        <a:t>10:08~11:00
14:08~15:00
22:08~23:00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SF Pro Rounded Regular"/>
                          <a:ea typeface="SF Pro Rounded Regular"/>
                          <a:cs typeface="SF Pro Rounded Regular"/>
                          <a:sym typeface="SF Pro Rounded Regular"/>
                        </a:rPr>
                        <a:t>07:08~8:00
13:08~14:00
19:08~20:00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6" presetID="23" grpId="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很棒！你已经会推算这些时间了💫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很棒！你已经会推算这些时间了💫</a:t>
            </a:r>
          </a:p>
        </p:txBody>
      </p:sp>
    </p:spTree>
  </p:cSld>
  <p:clrMapOvr>
    <a:masterClrMapping/>
  </p:clrMapOvr>
  <p:transition xmlns:p14="http://schemas.microsoft.com/office/powerpoint/2010/main" spd="med" advClick="0" advTm="3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6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